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7" r:id="rId4"/>
    <p:sldId id="278" r:id="rId5"/>
    <p:sldId id="279" r:id="rId6"/>
    <p:sldId id="273" r:id="rId7"/>
    <p:sldId id="274" r:id="rId8"/>
    <p:sldId id="265" r:id="rId9"/>
    <p:sldId id="272" r:id="rId10"/>
    <p:sldId id="268" r:id="rId11"/>
    <p:sldId id="266" r:id="rId12"/>
    <p:sldId id="267" r:id="rId13"/>
    <p:sldId id="2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32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F8350-E32B-4883-A533-62AA57F56A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24DDFE-08B4-4C28-B61E-43C4A32F2C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5BCF562-96F6-40C8-B07C-3E4C0D8EC161}"/>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5" name="Footer Placeholder 4">
            <a:extLst>
              <a:ext uri="{FF2B5EF4-FFF2-40B4-BE49-F238E27FC236}">
                <a16:creationId xmlns:a16="http://schemas.microsoft.com/office/drawing/2014/main" id="{242BB364-5ECE-49FE-8543-41D8F6B433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F01A98-0DE8-47A4-AF0D-3A4C59528A4F}"/>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3757037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10164-BB74-446B-A144-C36942C531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0E7710-CD93-4DE7-89A1-E0F7D1A8B4E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1469C6-320D-4525-A4C4-66EB1983035C}"/>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5" name="Footer Placeholder 4">
            <a:extLst>
              <a:ext uri="{FF2B5EF4-FFF2-40B4-BE49-F238E27FC236}">
                <a16:creationId xmlns:a16="http://schemas.microsoft.com/office/drawing/2014/main" id="{B3C35803-F02F-4021-8276-1D59589EF9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35F6E8-95C5-402F-9775-42A57657A169}"/>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653900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DECEE-8284-4F4E-B583-B0FDD58158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45DC2B-EED7-43B4-80F1-0730133F7C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94C65D3-3758-4A0F-B039-49199D83F347}"/>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5" name="Footer Placeholder 4">
            <a:extLst>
              <a:ext uri="{FF2B5EF4-FFF2-40B4-BE49-F238E27FC236}">
                <a16:creationId xmlns:a16="http://schemas.microsoft.com/office/drawing/2014/main" id="{1F788A76-DC0B-4181-AFF6-7FF8C015E9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FCAB50-598A-4847-B9BE-86259363982F}"/>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38118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3FAA0-2661-4A42-98C2-0AD42E856F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1859D5-9313-4B7C-ABB4-7BB1E766D0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181DD8-41F2-43C8-8FAE-9022ABCCE80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32C769-0C4E-4DC0-8B64-FF2C6BCA2CA4}"/>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6" name="Footer Placeholder 5">
            <a:extLst>
              <a:ext uri="{FF2B5EF4-FFF2-40B4-BE49-F238E27FC236}">
                <a16:creationId xmlns:a16="http://schemas.microsoft.com/office/drawing/2014/main" id="{D3060505-53F5-4B9D-930F-90E93839D0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2BEE49-97C2-4208-9733-C41CA62263F2}"/>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1531298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C266A-27FA-42C0-B29B-3CF17394BF4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FD9339-6F54-4527-A92B-4DEFD8123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F7CDF27-1DDC-4479-8F83-9FA8E455370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BF3200-290A-4784-A32A-B5E78845A5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90A3A7-AD73-44BA-BB4B-F31B51F6FD5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953EEA-5B1B-4FFD-93E2-294EF2150A84}"/>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8" name="Footer Placeholder 7">
            <a:extLst>
              <a:ext uri="{FF2B5EF4-FFF2-40B4-BE49-F238E27FC236}">
                <a16:creationId xmlns:a16="http://schemas.microsoft.com/office/drawing/2014/main" id="{F1B83716-175B-4C88-A75D-23783F77DCF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40FCE8-3D6C-414C-92D9-1BF8050E9763}"/>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255543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93755-65F7-4508-BA4D-D43611AA52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578E21-2A8F-406B-B743-713FB2626218}"/>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4" name="Footer Placeholder 3">
            <a:extLst>
              <a:ext uri="{FF2B5EF4-FFF2-40B4-BE49-F238E27FC236}">
                <a16:creationId xmlns:a16="http://schemas.microsoft.com/office/drawing/2014/main" id="{8CC6CDE9-577D-4E5C-96BF-B293FB363B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1A8A80-2BFC-41A3-A80C-50C5B200A6C8}"/>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3958297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E2D62A-7AFB-465B-A4B1-ADBFD0313CFE}"/>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3" name="Footer Placeholder 2">
            <a:extLst>
              <a:ext uri="{FF2B5EF4-FFF2-40B4-BE49-F238E27FC236}">
                <a16:creationId xmlns:a16="http://schemas.microsoft.com/office/drawing/2014/main" id="{3A4C6E6A-6107-4C7F-9C8B-9E811511121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45BD95-25CE-477D-9C0A-57E15A13DCEC}"/>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4077687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D50D6-1A26-4D85-971F-A7F3D0E44C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A3228F-3E9D-4A84-A51A-1C8E648E75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516EC1-4B6B-4BC2-B3A5-09F4990A6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3BF2989-AD58-4556-B560-7F94BDF304A8}"/>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6" name="Footer Placeholder 5">
            <a:extLst>
              <a:ext uri="{FF2B5EF4-FFF2-40B4-BE49-F238E27FC236}">
                <a16:creationId xmlns:a16="http://schemas.microsoft.com/office/drawing/2014/main" id="{2CA8955C-57FF-4B56-8BB1-135BF9A46B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9F0A8-6C46-4821-AB16-B3F4FE5844FB}"/>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153139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0D106-D1C4-4776-B3AC-48CCE93A36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CFD0373-F066-4A57-8DC9-74E22840CD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8A2E904-21F9-4E25-A925-B1958CD9A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14E4E33-D980-45D1-B1A9-B134A0F8647D}"/>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6" name="Footer Placeholder 5">
            <a:extLst>
              <a:ext uri="{FF2B5EF4-FFF2-40B4-BE49-F238E27FC236}">
                <a16:creationId xmlns:a16="http://schemas.microsoft.com/office/drawing/2014/main" id="{50AEBA46-DB22-44F5-997B-75E25F38BB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C81624-D712-47A9-85F8-7A79C93B3F26}"/>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3040553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46556-4A56-4CA0-9390-C87603DED07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A1C4F9-E729-4BC1-8E57-A098720CD0F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1D5A0B-8CE5-4BCA-8374-CD5A1D821BE5}"/>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5" name="Footer Placeholder 4">
            <a:extLst>
              <a:ext uri="{FF2B5EF4-FFF2-40B4-BE49-F238E27FC236}">
                <a16:creationId xmlns:a16="http://schemas.microsoft.com/office/drawing/2014/main" id="{0655E5B7-B94E-4E17-BABD-E7CAFEAC7A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77F28E-6B73-43A5-A9A2-BA6C6DC5C890}"/>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3076839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135CB4-83CA-418D-9887-B7FB4426D2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24F843-E3A1-4D27-92D7-997CC9E52F0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0105B2-B9C5-4618-9D00-BF1597B7FEBE}"/>
              </a:ext>
            </a:extLst>
          </p:cNvPr>
          <p:cNvSpPr>
            <a:spLocks noGrp="1"/>
          </p:cNvSpPr>
          <p:nvPr>
            <p:ph type="dt" sz="half" idx="10"/>
          </p:nvPr>
        </p:nvSpPr>
        <p:spPr/>
        <p:txBody>
          <a:bodyPr/>
          <a:lstStyle/>
          <a:p>
            <a:fld id="{84369C88-9B65-4FEE-938C-0B6DEF0FDFC4}" type="datetimeFigureOut">
              <a:rPr lang="en-IN" smtClean="0"/>
              <a:t>28-10-2026</a:t>
            </a:fld>
            <a:endParaRPr lang="en-IN"/>
          </a:p>
        </p:txBody>
      </p:sp>
      <p:sp>
        <p:nvSpPr>
          <p:cNvPr id="5" name="Footer Placeholder 4">
            <a:extLst>
              <a:ext uri="{FF2B5EF4-FFF2-40B4-BE49-F238E27FC236}">
                <a16:creationId xmlns:a16="http://schemas.microsoft.com/office/drawing/2014/main" id="{3ED7C231-1BC4-473B-B667-C63550DFAC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322ABF-C223-473D-97EE-7B6B98558232}"/>
              </a:ext>
            </a:extLst>
          </p:cNvPr>
          <p:cNvSpPr>
            <a:spLocks noGrp="1"/>
          </p:cNvSpPr>
          <p:nvPr>
            <p:ph type="sldNum" sz="quarter" idx="12"/>
          </p:nvPr>
        </p:nvSpPr>
        <p:spPr/>
        <p:txBody>
          <a:bodyPr/>
          <a:lstStyle/>
          <a:p>
            <a:fld id="{E2464F7C-1C47-4B51-8002-263AF0F3902D}" type="slidenum">
              <a:rPr lang="en-IN" smtClean="0"/>
              <a:t>‹#›</a:t>
            </a:fld>
            <a:endParaRPr lang="en-IN"/>
          </a:p>
        </p:txBody>
      </p:sp>
    </p:spTree>
    <p:extLst>
      <p:ext uri="{BB962C8B-B14F-4D97-AF65-F5344CB8AC3E}">
        <p14:creationId xmlns:p14="http://schemas.microsoft.com/office/powerpoint/2010/main" val="3884448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EAB41-B869-45D6-9B0A-AE7FD2A318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31C3A9-8AB3-4242-AF0D-C8F47B32F8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9AB8F3-274D-4882-99A1-7832531B8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69C88-9B65-4FEE-938C-0B6DEF0FDFC4}" type="datetimeFigureOut">
              <a:rPr lang="en-IN" smtClean="0"/>
              <a:t>28-10-2026</a:t>
            </a:fld>
            <a:endParaRPr lang="en-IN"/>
          </a:p>
        </p:txBody>
      </p:sp>
      <p:sp>
        <p:nvSpPr>
          <p:cNvPr id="5" name="Footer Placeholder 4">
            <a:extLst>
              <a:ext uri="{FF2B5EF4-FFF2-40B4-BE49-F238E27FC236}">
                <a16:creationId xmlns:a16="http://schemas.microsoft.com/office/drawing/2014/main" id="{234A98D3-2F84-474E-9439-0C7F4A08A5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B59AE2-A210-46D6-8D5B-0E3D99FAAB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464F7C-1C47-4B51-8002-263AF0F3902D}" type="slidenum">
              <a:rPr lang="en-IN" smtClean="0"/>
              <a:t>‹#›</a:t>
            </a:fld>
            <a:endParaRPr lang="en-IN"/>
          </a:p>
        </p:txBody>
      </p:sp>
    </p:spTree>
    <p:extLst>
      <p:ext uri="{BB962C8B-B14F-4D97-AF65-F5344CB8AC3E}">
        <p14:creationId xmlns:p14="http://schemas.microsoft.com/office/powerpoint/2010/main" val="3407370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A1114-9DED-40C9-94C9-02F082DE49E7}"/>
              </a:ext>
            </a:extLst>
          </p:cNvPr>
          <p:cNvSpPr>
            <a:spLocks noGrp="1"/>
          </p:cNvSpPr>
          <p:nvPr>
            <p:ph type="ctrTitle"/>
          </p:nvPr>
        </p:nvSpPr>
        <p:spPr/>
        <p:txBody>
          <a:bodyPr/>
          <a:lstStyle/>
          <a:p>
            <a:r>
              <a:rPr lang="en-US" dirty="0"/>
              <a:t>Hydraulic Power Plant</a:t>
            </a:r>
            <a:endParaRPr lang="en-IN" dirty="0"/>
          </a:p>
        </p:txBody>
      </p:sp>
      <p:sp>
        <p:nvSpPr>
          <p:cNvPr id="3" name="Subtitle 2">
            <a:extLst>
              <a:ext uri="{FF2B5EF4-FFF2-40B4-BE49-F238E27FC236}">
                <a16:creationId xmlns:a16="http://schemas.microsoft.com/office/drawing/2014/main" id="{B4848E15-CFEB-4440-AF20-679CA9EEFAE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66767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5CFFC642-5F72-421B-A627-0CF1895953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588" y="422031"/>
            <a:ext cx="10820774" cy="6277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3645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D55FB52-16DD-43E1-99FB-7514A36AF5E9}"/>
              </a:ext>
            </a:extLst>
          </p:cNvPr>
          <p:cNvSpPr txBox="1"/>
          <p:nvPr/>
        </p:nvSpPr>
        <p:spPr>
          <a:xfrm>
            <a:off x="244480" y="1452863"/>
            <a:ext cx="11703039" cy="2862322"/>
          </a:xfrm>
          <a:prstGeom prst="rect">
            <a:avLst/>
          </a:prstGeom>
          <a:noFill/>
        </p:spPr>
        <p:txBody>
          <a:bodyPr wrap="square" rtlCol="0">
            <a:spAutoFit/>
          </a:bodyPr>
          <a:lstStyle/>
          <a:p>
            <a:pPr algn="just"/>
            <a:r>
              <a:rPr lang="en-US" sz="2000" dirty="0"/>
              <a:t>A </a:t>
            </a:r>
            <a:r>
              <a:rPr lang="en-US" sz="2000" b="1" dirty="0"/>
              <a:t>hydroelectric power plant</a:t>
            </a:r>
            <a:r>
              <a:rPr lang="en-US" sz="2000" dirty="0"/>
              <a:t> generates electricity by converting the kinetic energy of flowing water into mechanical energy and then into electrical energy. The process begins at the </a:t>
            </a:r>
            <a:r>
              <a:rPr lang="en-US" sz="2000" b="1" dirty="0"/>
              <a:t>dam</a:t>
            </a:r>
            <a:r>
              <a:rPr lang="en-US" sz="2000" dirty="0"/>
              <a:t>, which stores water in a reservoir at a higher elevation, creating potential energy. Water is released from the reservoir through an intake into a </a:t>
            </a:r>
            <a:r>
              <a:rPr lang="en-US" sz="2000" b="1" dirty="0"/>
              <a:t>penstock</a:t>
            </a:r>
            <a:r>
              <a:rPr lang="en-US" sz="2000" dirty="0"/>
              <a:t>, a large pipe that directs the high-pressure water toward the </a:t>
            </a:r>
            <a:r>
              <a:rPr lang="en-US" sz="2000" b="1" dirty="0"/>
              <a:t>turbine</a:t>
            </a:r>
            <a:r>
              <a:rPr lang="en-US" sz="2000" dirty="0"/>
              <a:t>. As water flows through the turbine, it spins the </a:t>
            </a:r>
            <a:r>
              <a:rPr lang="en-US" sz="2000" b="1" dirty="0"/>
              <a:t>turbine blades</a:t>
            </a:r>
            <a:r>
              <a:rPr lang="en-US" sz="2000" dirty="0"/>
              <a:t>, converting the water's kinetic energy into mechanical energy. The rotating turbine is connected to a </a:t>
            </a:r>
            <a:r>
              <a:rPr lang="en-US" sz="2000" b="1" dirty="0"/>
              <a:t>generator</a:t>
            </a:r>
            <a:r>
              <a:rPr lang="en-US" sz="2000" dirty="0"/>
              <a:t>, where the mechanical energy is transformed into electrical energy via electromagnetic induction. The water, now at a lower energy level, is discharged back into the river through an </a:t>
            </a:r>
            <a:r>
              <a:rPr lang="en-US" sz="2000" b="1" dirty="0"/>
              <a:t>outlet</a:t>
            </a:r>
            <a:r>
              <a:rPr lang="en-US" sz="2000" dirty="0"/>
              <a:t>. The electricity produced is then transmitted through </a:t>
            </a:r>
            <a:r>
              <a:rPr lang="en-US" sz="2000" b="1" dirty="0"/>
              <a:t>transformers</a:t>
            </a:r>
            <a:r>
              <a:rPr lang="en-US" sz="2000" dirty="0"/>
              <a:t> to the power grid for distribution. This entire process operates without consuming fuel, making it a clean and renewable energy source.</a:t>
            </a:r>
            <a:endParaRPr lang="en-IN" sz="2000" dirty="0"/>
          </a:p>
        </p:txBody>
      </p:sp>
      <p:sp>
        <p:nvSpPr>
          <p:cNvPr id="7" name="TextBox 6">
            <a:extLst>
              <a:ext uri="{FF2B5EF4-FFF2-40B4-BE49-F238E27FC236}">
                <a16:creationId xmlns:a16="http://schemas.microsoft.com/office/drawing/2014/main" id="{CE4ADCF5-6E53-3313-9F05-50D22F1A290E}"/>
              </a:ext>
            </a:extLst>
          </p:cNvPr>
          <p:cNvSpPr txBox="1"/>
          <p:nvPr/>
        </p:nvSpPr>
        <p:spPr>
          <a:xfrm>
            <a:off x="2642843" y="572766"/>
            <a:ext cx="7338291" cy="461665"/>
          </a:xfrm>
          <a:prstGeom prst="rect">
            <a:avLst/>
          </a:prstGeom>
          <a:noFill/>
        </p:spPr>
        <p:txBody>
          <a:bodyPr wrap="square" rtlCol="0">
            <a:spAutoFit/>
          </a:bodyPr>
          <a:lstStyle/>
          <a:p>
            <a:r>
              <a:rPr lang="en-IN" sz="2400" dirty="0"/>
              <a:t>WORKING PRINCIPLE OF HYDROELECTRIC POWER PLANT</a:t>
            </a:r>
          </a:p>
        </p:txBody>
      </p:sp>
    </p:spTree>
    <p:extLst>
      <p:ext uri="{BB962C8B-B14F-4D97-AF65-F5344CB8AC3E}">
        <p14:creationId xmlns:p14="http://schemas.microsoft.com/office/powerpoint/2010/main" val="501430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C6A80-8FE1-4CE1-8958-7D1E19EB62F8}"/>
              </a:ext>
            </a:extLst>
          </p:cNvPr>
          <p:cNvSpPr>
            <a:spLocks noGrp="1"/>
          </p:cNvSpPr>
          <p:nvPr>
            <p:ph type="title"/>
          </p:nvPr>
        </p:nvSpPr>
        <p:spPr/>
        <p:txBody>
          <a:bodyPr/>
          <a:lstStyle/>
          <a:p>
            <a:r>
              <a:rPr lang="en-US" dirty="0"/>
              <a:t>Elements of Hydel Plant</a:t>
            </a:r>
            <a:endParaRPr lang="en-IN" dirty="0"/>
          </a:p>
        </p:txBody>
      </p:sp>
      <p:sp>
        <p:nvSpPr>
          <p:cNvPr id="3" name="Content Placeholder 2">
            <a:extLst>
              <a:ext uri="{FF2B5EF4-FFF2-40B4-BE49-F238E27FC236}">
                <a16:creationId xmlns:a16="http://schemas.microsoft.com/office/drawing/2014/main" id="{6D3490C6-94B0-4828-A068-567458B69011}"/>
              </a:ext>
            </a:extLst>
          </p:cNvPr>
          <p:cNvSpPr>
            <a:spLocks noGrp="1"/>
          </p:cNvSpPr>
          <p:nvPr>
            <p:ph idx="1"/>
          </p:nvPr>
        </p:nvSpPr>
        <p:spPr/>
        <p:txBody>
          <a:bodyPr>
            <a:normAutofit lnSpcReduction="10000"/>
          </a:bodyPr>
          <a:lstStyle/>
          <a:p>
            <a:r>
              <a:rPr lang="en-US" dirty="0"/>
              <a:t>Water reservoir </a:t>
            </a:r>
          </a:p>
          <a:p>
            <a:r>
              <a:rPr lang="en-US" dirty="0"/>
              <a:t>Dam</a:t>
            </a:r>
          </a:p>
          <a:p>
            <a:r>
              <a:rPr lang="en-US" dirty="0"/>
              <a:t>Spillways</a:t>
            </a:r>
          </a:p>
          <a:p>
            <a:r>
              <a:rPr lang="en-US" dirty="0"/>
              <a:t>Trash Rack</a:t>
            </a:r>
          </a:p>
          <a:p>
            <a:r>
              <a:rPr lang="en-US" dirty="0"/>
              <a:t>Water ways.</a:t>
            </a:r>
          </a:p>
          <a:p>
            <a:pPr lvl="1"/>
            <a:r>
              <a:rPr lang="en-US" dirty="0"/>
              <a:t>Open canals</a:t>
            </a:r>
          </a:p>
          <a:p>
            <a:pPr lvl="1"/>
            <a:r>
              <a:rPr lang="en-US" dirty="0"/>
              <a:t>Tunnels</a:t>
            </a:r>
          </a:p>
          <a:p>
            <a:pPr lvl="1"/>
            <a:r>
              <a:rPr lang="en-US" dirty="0"/>
              <a:t>Penstock</a:t>
            </a:r>
          </a:p>
          <a:p>
            <a:r>
              <a:rPr lang="en-US" dirty="0"/>
              <a:t>Surge Tank</a:t>
            </a:r>
          </a:p>
          <a:p>
            <a:r>
              <a:rPr lang="en-US" dirty="0"/>
              <a:t>Power house ( Turbine, generator)</a:t>
            </a:r>
            <a:endParaRPr lang="en-IN" dirty="0"/>
          </a:p>
        </p:txBody>
      </p:sp>
    </p:spTree>
    <p:extLst>
      <p:ext uri="{BB962C8B-B14F-4D97-AF65-F5344CB8AC3E}">
        <p14:creationId xmlns:p14="http://schemas.microsoft.com/office/powerpoint/2010/main" val="1011255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A4475-58F0-4501-948F-3BABBB3A2391}"/>
              </a:ext>
            </a:extLst>
          </p:cNvPr>
          <p:cNvSpPr>
            <a:spLocks noGrp="1"/>
          </p:cNvSpPr>
          <p:nvPr>
            <p:ph type="title"/>
          </p:nvPr>
        </p:nvSpPr>
        <p:spPr/>
        <p:txBody>
          <a:bodyPr/>
          <a:lstStyle/>
          <a:p>
            <a:r>
              <a:rPr lang="en-US" dirty="0"/>
              <a:t>Spillway and Surge tank</a:t>
            </a:r>
            <a:endParaRPr lang="en-IN" dirty="0"/>
          </a:p>
        </p:txBody>
      </p:sp>
      <p:sp>
        <p:nvSpPr>
          <p:cNvPr id="3" name="Content Placeholder 2">
            <a:extLst>
              <a:ext uri="{FF2B5EF4-FFF2-40B4-BE49-F238E27FC236}">
                <a16:creationId xmlns:a16="http://schemas.microsoft.com/office/drawing/2014/main" id="{FC5CE63E-03D9-40E8-B3DE-4299D08B7D1A}"/>
              </a:ext>
            </a:extLst>
          </p:cNvPr>
          <p:cNvSpPr>
            <a:spLocks noGrp="1"/>
          </p:cNvSpPr>
          <p:nvPr>
            <p:ph idx="1"/>
          </p:nvPr>
        </p:nvSpPr>
        <p:spPr/>
        <p:txBody>
          <a:bodyPr/>
          <a:lstStyle/>
          <a:p>
            <a:r>
              <a:rPr lang="en-US" dirty="0"/>
              <a:t>Spillway is used to discharge water during the flood period without passing through the power house. It acts as a safety valve for the Dam. </a:t>
            </a:r>
          </a:p>
          <a:p>
            <a:r>
              <a:rPr lang="en-US" dirty="0"/>
              <a:t>Surge tank serves as a supply tank to the turbine when the water in the penstock is accelerating due to increased load.</a:t>
            </a:r>
          </a:p>
          <a:p>
            <a:r>
              <a:rPr lang="en-US" dirty="0"/>
              <a:t>Serves as a storage tank when the water is decelerating during reduced load conditions. </a:t>
            </a:r>
          </a:p>
          <a:p>
            <a:r>
              <a:rPr lang="en-US" dirty="0"/>
              <a:t>Avoids the water hammer effect due to backflow of water in reduced load conditions.</a:t>
            </a:r>
            <a:endParaRPr lang="en-IN" dirty="0"/>
          </a:p>
        </p:txBody>
      </p:sp>
    </p:spTree>
    <p:extLst>
      <p:ext uri="{BB962C8B-B14F-4D97-AF65-F5344CB8AC3E}">
        <p14:creationId xmlns:p14="http://schemas.microsoft.com/office/powerpoint/2010/main" val="471696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7C8F4-C33F-4C9D-BF60-0E071BCFE005}"/>
              </a:ext>
            </a:extLst>
          </p:cNvPr>
          <p:cNvSpPr>
            <a:spLocks noGrp="1"/>
          </p:cNvSpPr>
          <p:nvPr>
            <p:ph type="title"/>
          </p:nvPr>
        </p:nvSpPr>
        <p:spPr/>
        <p:txBody>
          <a:bodyPr/>
          <a:lstStyle/>
          <a:p>
            <a:r>
              <a:rPr lang="en-US" dirty="0"/>
              <a:t>Classification of hydraulic turbines.</a:t>
            </a:r>
            <a:endParaRPr lang="en-IN" dirty="0"/>
          </a:p>
        </p:txBody>
      </p:sp>
      <p:sp>
        <p:nvSpPr>
          <p:cNvPr id="3" name="Content Placeholder 2">
            <a:extLst>
              <a:ext uri="{FF2B5EF4-FFF2-40B4-BE49-F238E27FC236}">
                <a16:creationId xmlns:a16="http://schemas.microsoft.com/office/drawing/2014/main" id="{FD920C6A-9509-4F86-8DAF-376B21ED3048}"/>
              </a:ext>
            </a:extLst>
          </p:cNvPr>
          <p:cNvSpPr>
            <a:spLocks noGrp="1"/>
          </p:cNvSpPr>
          <p:nvPr>
            <p:ph idx="1"/>
          </p:nvPr>
        </p:nvSpPr>
        <p:spPr/>
        <p:txBody>
          <a:bodyPr>
            <a:normAutofit fontScale="85000" lnSpcReduction="20000"/>
          </a:bodyPr>
          <a:lstStyle/>
          <a:p>
            <a:pPr marL="0" indent="0">
              <a:buNone/>
            </a:pPr>
            <a:r>
              <a:rPr lang="en-US" dirty="0"/>
              <a:t>Based on principle of working.</a:t>
            </a:r>
          </a:p>
          <a:p>
            <a:pPr marL="0" indent="0">
              <a:buNone/>
            </a:pPr>
            <a:r>
              <a:rPr lang="en-US" dirty="0"/>
              <a:t>  	a. Impulse turbine. ( ex. Pelton wheel)</a:t>
            </a:r>
          </a:p>
          <a:p>
            <a:pPr marL="0" indent="0">
              <a:buNone/>
            </a:pPr>
            <a:r>
              <a:rPr lang="en-US" dirty="0"/>
              <a:t>	b. Reaction turbine. (ex. Francis and Kaplan Turbines.)</a:t>
            </a:r>
          </a:p>
          <a:p>
            <a:pPr marL="0" indent="0">
              <a:buNone/>
            </a:pPr>
            <a:r>
              <a:rPr lang="en-US" dirty="0"/>
              <a:t>Based on Head used.</a:t>
            </a:r>
          </a:p>
          <a:p>
            <a:pPr marL="0" indent="0">
              <a:buNone/>
            </a:pPr>
            <a:r>
              <a:rPr lang="en-US" dirty="0"/>
              <a:t>	a. High head ( above 300 m)  ( Pelton wheel)</a:t>
            </a:r>
          </a:p>
          <a:p>
            <a:pPr marL="0" indent="0">
              <a:buNone/>
            </a:pPr>
            <a:r>
              <a:rPr lang="en-US" dirty="0"/>
              <a:t>	b. medium head ( </a:t>
            </a:r>
            <a:r>
              <a:rPr lang="en-US" dirty="0" err="1"/>
              <a:t>b.w.</a:t>
            </a:r>
            <a:r>
              <a:rPr lang="en-US" dirty="0"/>
              <a:t> 50 to 300 m)  ( Francis)</a:t>
            </a:r>
          </a:p>
          <a:p>
            <a:pPr marL="0" indent="0">
              <a:buNone/>
            </a:pPr>
            <a:r>
              <a:rPr lang="en-US" dirty="0"/>
              <a:t>	c. low head ( below 50 m)  ( Kaplan)</a:t>
            </a:r>
          </a:p>
          <a:p>
            <a:pPr marL="0" indent="0">
              <a:buNone/>
            </a:pPr>
            <a:r>
              <a:rPr lang="en-US" dirty="0"/>
              <a:t>Based on flow of water </a:t>
            </a:r>
            <a:r>
              <a:rPr lang="en-US" dirty="0" err="1"/>
              <a:t>w.r.t.</a:t>
            </a:r>
            <a:r>
              <a:rPr lang="en-US" dirty="0"/>
              <a:t> runner of turbine.</a:t>
            </a:r>
          </a:p>
          <a:p>
            <a:pPr marL="0" indent="0">
              <a:buNone/>
            </a:pPr>
            <a:r>
              <a:rPr lang="en-US" dirty="0"/>
              <a:t>	a) Tangential flow. (Pelton wheel)</a:t>
            </a:r>
          </a:p>
          <a:p>
            <a:pPr marL="0" indent="0">
              <a:buNone/>
            </a:pPr>
            <a:r>
              <a:rPr lang="en-US" dirty="0"/>
              <a:t>	b) Mixed flow ( Francis )</a:t>
            </a:r>
          </a:p>
          <a:p>
            <a:pPr marL="0" indent="0">
              <a:buNone/>
            </a:pPr>
            <a:r>
              <a:rPr lang="en-US" dirty="0"/>
              <a:t>	c) Axial flow ( Kaplan)</a:t>
            </a:r>
            <a:endParaRPr lang="en-IN" dirty="0"/>
          </a:p>
        </p:txBody>
      </p:sp>
    </p:spTree>
    <p:extLst>
      <p:ext uri="{BB962C8B-B14F-4D97-AF65-F5344CB8AC3E}">
        <p14:creationId xmlns:p14="http://schemas.microsoft.com/office/powerpoint/2010/main" val="4270225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7EDE6-2715-4435-A5B1-B2AA2EEF22EE}"/>
              </a:ext>
            </a:extLst>
          </p:cNvPr>
          <p:cNvSpPr>
            <a:spLocks noGrp="1"/>
          </p:cNvSpPr>
          <p:nvPr>
            <p:ph type="title"/>
          </p:nvPr>
        </p:nvSpPr>
        <p:spPr/>
        <p:txBody>
          <a:bodyPr/>
          <a:lstStyle/>
          <a:p>
            <a:r>
              <a:rPr lang="en-US" dirty="0"/>
              <a:t>Impulse and Reaction Principles</a:t>
            </a:r>
            <a:endParaRPr lang="en-IN" dirty="0"/>
          </a:p>
        </p:txBody>
      </p:sp>
      <p:sp>
        <p:nvSpPr>
          <p:cNvPr id="3" name="Content Placeholder 2">
            <a:extLst>
              <a:ext uri="{FF2B5EF4-FFF2-40B4-BE49-F238E27FC236}">
                <a16:creationId xmlns:a16="http://schemas.microsoft.com/office/drawing/2014/main" id="{96B0C2E9-A1BB-4ADE-BFE9-0C1BC544B58A}"/>
              </a:ext>
            </a:extLst>
          </p:cNvPr>
          <p:cNvSpPr>
            <a:spLocks noGrp="1"/>
          </p:cNvSpPr>
          <p:nvPr>
            <p:ph idx="1"/>
          </p:nvPr>
        </p:nvSpPr>
        <p:spPr/>
        <p:txBody>
          <a:bodyPr/>
          <a:lstStyle/>
          <a:p>
            <a:r>
              <a:rPr lang="en-US" dirty="0"/>
              <a:t>In an impulse turbine, the entire pressure energy of water is converted into kinetic energy in a Nozzle before it enters the runner of the turbine. Hence, the pressure of water before and after the runner will be the same, usually atmospheric pressure.</a:t>
            </a:r>
          </a:p>
          <a:p>
            <a:r>
              <a:rPr lang="en-US" dirty="0"/>
              <a:t>In a reaction turbine, some part of the pressure energy is converted into velocity energy before the runner, and the remaining pressure energy is converted into kinetic energy in the runner. Hence, the water pressure before and after the runner will be different.</a:t>
            </a:r>
            <a:endParaRPr lang="en-IN" dirty="0"/>
          </a:p>
        </p:txBody>
      </p:sp>
    </p:spTree>
    <p:extLst>
      <p:ext uri="{BB962C8B-B14F-4D97-AF65-F5344CB8AC3E}">
        <p14:creationId xmlns:p14="http://schemas.microsoft.com/office/powerpoint/2010/main" val="4068306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4CB2FD-714F-4121-8D14-FBAE8D7FD4B6}"/>
              </a:ext>
            </a:extLst>
          </p:cNvPr>
          <p:cNvPicPr>
            <a:picLocks noChangeAspect="1"/>
          </p:cNvPicPr>
          <p:nvPr/>
        </p:nvPicPr>
        <p:blipFill>
          <a:blip r:embed="rId2"/>
          <a:stretch>
            <a:fillRect/>
          </a:stretch>
        </p:blipFill>
        <p:spPr>
          <a:xfrm>
            <a:off x="1107830" y="307731"/>
            <a:ext cx="9460523" cy="6176196"/>
          </a:xfrm>
          <a:prstGeom prst="rect">
            <a:avLst/>
          </a:prstGeom>
        </p:spPr>
      </p:pic>
    </p:spTree>
    <p:extLst>
      <p:ext uri="{BB962C8B-B14F-4D97-AF65-F5344CB8AC3E}">
        <p14:creationId xmlns:p14="http://schemas.microsoft.com/office/powerpoint/2010/main" val="2531597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C9E183-9EAD-4DD3-B62C-AB4635FF3EFE}"/>
              </a:ext>
            </a:extLst>
          </p:cNvPr>
          <p:cNvPicPr>
            <a:picLocks noChangeAspect="1"/>
          </p:cNvPicPr>
          <p:nvPr/>
        </p:nvPicPr>
        <p:blipFill>
          <a:blip r:embed="rId2"/>
          <a:stretch>
            <a:fillRect/>
          </a:stretch>
        </p:blipFill>
        <p:spPr>
          <a:xfrm>
            <a:off x="4175256" y="1752285"/>
            <a:ext cx="3841487" cy="3353430"/>
          </a:xfrm>
          <a:prstGeom prst="rect">
            <a:avLst/>
          </a:prstGeom>
        </p:spPr>
      </p:pic>
      <p:sp>
        <p:nvSpPr>
          <p:cNvPr id="3" name="TextBox 2">
            <a:extLst>
              <a:ext uri="{FF2B5EF4-FFF2-40B4-BE49-F238E27FC236}">
                <a16:creationId xmlns:a16="http://schemas.microsoft.com/office/drawing/2014/main" id="{A7DD9490-FEF9-420F-93EA-6440A1B74225}"/>
              </a:ext>
            </a:extLst>
          </p:cNvPr>
          <p:cNvSpPr txBox="1"/>
          <p:nvPr/>
        </p:nvSpPr>
        <p:spPr>
          <a:xfrm>
            <a:off x="4658456" y="949569"/>
            <a:ext cx="2875085" cy="369332"/>
          </a:xfrm>
          <a:prstGeom prst="rect">
            <a:avLst/>
          </a:prstGeom>
          <a:noFill/>
        </p:spPr>
        <p:txBody>
          <a:bodyPr wrap="square" rtlCol="0">
            <a:spAutoFit/>
          </a:bodyPr>
          <a:lstStyle/>
          <a:p>
            <a:pPr algn="ctr"/>
            <a:r>
              <a:rPr lang="en-US" dirty="0"/>
              <a:t>Pelton Wheel with buckets</a:t>
            </a:r>
            <a:endParaRPr lang="en-IN" dirty="0"/>
          </a:p>
        </p:txBody>
      </p:sp>
    </p:spTree>
    <p:extLst>
      <p:ext uri="{BB962C8B-B14F-4D97-AF65-F5344CB8AC3E}">
        <p14:creationId xmlns:p14="http://schemas.microsoft.com/office/powerpoint/2010/main" val="1052406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2F4BF5-42E9-488E-9A55-488BCA5CC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955" y="1537124"/>
            <a:ext cx="3965029" cy="2816596"/>
          </a:xfrm>
          <a:prstGeom prst="rect">
            <a:avLst/>
          </a:prstGeom>
        </p:spPr>
      </p:pic>
      <p:pic>
        <p:nvPicPr>
          <p:cNvPr id="18" name="Picture 17">
            <a:extLst>
              <a:ext uri="{FF2B5EF4-FFF2-40B4-BE49-F238E27FC236}">
                <a16:creationId xmlns:a16="http://schemas.microsoft.com/office/drawing/2014/main" id="{CD41508E-4E33-4F5E-AB15-9695FC9436B9}"/>
              </a:ext>
            </a:extLst>
          </p:cNvPr>
          <p:cNvPicPr>
            <a:picLocks noChangeAspect="1"/>
          </p:cNvPicPr>
          <p:nvPr/>
        </p:nvPicPr>
        <p:blipFill>
          <a:blip r:embed="rId3"/>
          <a:stretch>
            <a:fillRect/>
          </a:stretch>
        </p:blipFill>
        <p:spPr>
          <a:xfrm>
            <a:off x="6698639" y="1264720"/>
            <a:ext cx="3648075" cy="3848100"/>
          </a:xfrm>
          <a:prstGeom prst="rect">
            <a:avLst/>
          </a:prstGeom>
        </p:spPr>
      </p:pic>
      <p:sp>
        <p:nvSpPr>
          <p:cNvPr id="20" name="TextBox 19">
            <a:extLst>
              <a:ext uri="{FF2B5EF4-FFF2-40B4-BE49-F238E27FC236}">
                <a16:creationId xmlns:a16="http://schemas.microsoft.com/office/drawing/2014/main" id="{87B5688E-B08E-470F-9B74-AC0EF976A8FE}"/>
              </a:ext>
            </a:extLst>
          </p:cNvPr>
          <p:cNvSpPr txBox="1"/>
          <p:nvPr/>
        </p:nvSpPr>
        <p:spPr>
          <a:xfrm>
            <a:off x="1960685" y="4862146"/>
            <a:ext cx="2031023" cy="369277"/>
          </a:xfrm>
          <a:prstGeom prst="rect">
            <a:avLst/>
          </a:prstGeom>
          <a:noFill/>
        </p:spPr>
        <p:txBody>
          <a:bodyPr wrap="square" rtlCol="0">
            <a:spAutoFit/>
          </a:bodyPr>
          <a:lstStyle/>
          <a:p>
            <a:pPr algn="ctr"/>
            <a:r>
              <a:rPr lang="en-US" dirty="0"/>
              <a:t>Pelton Turbine </a:t>
            </a:r>
            <a:endParaRPr lang="en-IN" dirty="0"/>
          </a:p>
        </p:txBody>
      </p:sp>
      <p:sp>
        <p:nvSpPr>
          <p:cNvPr id="21" name="TextBox 20">
            <a:extLst>
              <a:ext uri="{FF2B5EF4-FFF2-40B4-BE49-F238E27FC236}">
                <a16:creationId xmlns:a16="http://schemas.microsoft.com/office/drawing/2014/main" id="{6CAF228C-10D1-4875-9CDF-BC4CB6398ACE}"/>
              </a:ext>
            </a:extLst>
          </p:cNvPr>
          <p:cNvSpPr txBox="1"/>
          <p:nvPr/>
        </p:nvSpPr>
        <p:spPr>
          <a:xfrm>
            <a:off x="7482254" y="5231423"/>
            <a:ext cx="2611315" cy="369332"/>
          </a:xfrm>
          <a:prstGeom prst="rect">
            <a:avLst/>
          </a:prstGeom>
          <a:noFill/>
        </p:spPr>
        <p:txBody>
          <a:bodyPr wrap="square" rtlCol="0">
            <a:spAutoFit/>
          </a:bodyPr>
          <a:lstStyle/>
          <a:p>
            <a:pPr algn="ctr"/>
            <a:r>
              <a:rPr lang="en-US" dirty="0"/>
              <a:t>Shape of Bucket</a:t>
            </a:r>
            <a:endParaRPr lang="en-IN" dirty="0"/>
          </a:p>
        </p:txBody>
      </p:sp>
    </p:spTree>
    <p:extLst>
      <p:ext uri="{BB962C8B-B14F-4D97-AF65-F5344CB8AC3E}">
        <p14:creationId xmlns:p14="http://schemas.microsoft.com/office/powerpoint/2010/main" val="1099912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947EC3-BAAF-4742-A0DA-4968980DD621}"/>
              </a:ext>
            </a:extLst>
          </p:cNvPr>
          <p:cNvPicPr>
            <a:picLocks noChangeAspect="1"/>
          </p:cNvPicPr>
          <p:nvPr/>
        </p:nvPicPr>
        <p:blipFill>
          <a:blip r:embed="rId2"/>
          <a:stretch>
            <a:fillRect/>
          </a:stretch>
        </p:blipFill>
        <p:spPr>
          <a:xfrm>
            <a:off x="1418165" y="974874"/>
            <a:ext cx="9361204" cy="4389275"/>
          </a:xfrm>
          <a:prstGeom prst="rect">
            <a:avLst/>
          </a:prstGeom>
        </p:spPr>
      </p:pic>
    </p:spTree>
    <p:extLst>
      <p:ext uri="{BB962C8B-B14F-4D97-AF65-F5344CB8AC3E}">
        <p14:creationId xmlns:p14="http://schemas.microsoft.com/office/powerpoint/2010/main" val="2202413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67A91B-8A94-4809-9EAB-E7B49C85950E}"/>
              </a:ext>
            </a:extLst>
          </p:cNvPr>
          <p:cNvPicPr>
            <a:picLocks noChangeAspect="1"/>
          </p:cNvPicPr>
          <p:nvPr/>
        </p:nvPicPr>
        <p:blipFill>
          <a:blip r:embed="rId2"/>
          <a:stretch>
            <a:fillRect/>
          </a:stretch>
        </p:blipFill>
        <p:spPr>
          <a:xfrm>
            <a:off x="310238" y="1186963"/>
            <a:ext cx="11743216" cy="4765430"/>
          </a:xfrm>
          <a:prstGeom prst="rect">
            <a:avLst/>
          </a:prstGeom>
        </p:spPr>
      </p:pic>
    </p:spTree>
    <p:extLst>
      <p:ext uri="{BB962C8B-B14F-4D97-AF65-F5344CB8AC3E}">
        <p14:creationId xmlns:p14="http://schemas.microsoft.com/office/powerpoint/2010/main" val="1898026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F936D-0508-4A57-8171-30B1F10EB621}"/>
              </a:ext>
            </a:extLst>
          </p:cNvPr>
          <p:cNvSpPr>
            <a:spLocks noGrp="1"/>
          </p:cNvSpPr>
          <p:nvPr>
            <p:ph type="title"/>
          </p:nvPr>
        </p:nvSpPr>
        <p:spPr/>
        <p:txBody>
          <a:bodyPr/>
          <a:lstStyle/>
          <a:p>
            <a:r>
              <a:rPr lang="en-US" dirty="0"/>
              <a:t>Relative merits and demerits of Hydel plant.</a:t>
            </a:r>
            <a:endParaRPr lang="en-IN" dirty="0"/>
          </a:p>
        </p:txBody>
      </p:sp>
      <p:sp>
        <p:nvSpPr>
          <p:cNvPr id="3" name="Text Placeholder 2">
            <a:extLst>
              <a:ext uri="{FF2B5EF4-FFF2-40B4-BE49-F238E27FC236}">
                <a16:creationId xmlns:a16="http://schemas.microsoft.com/office/drawing/2014/main" id="{24C462CF-AF67-4F2D-9E22-BD2D99A15235}"/>
              </a:ext>
            </a:extLst>
          </p:cNvPr>
          <p:cNvSpPr>
            <a:spLocks noGrp="1"/>
          </p:cNvSpPr>
          <p:nvPr>
            <p:ph type="body" idx="1"/>
          </p:nvPr>
        </p:nvSpPr>
        <p:spPr/>
        <p:txBody>
          <a:bodyPr/>
          <a:lstStyle/>
          <a:p>
            <a:r>
              <a:rPr lang="en-US" dirty="0"/>
              <a:t>Merits</a:t>
            </a:r>
            <a:endParaRPr lang="en-IN" dirty="0"/>
          </a:p>
        </p:txBody>
      </p:sp>
      <p:sp>
        <p:nvSpPr>
          <p:cNvPr id="4" name="Content Placeholder 3">
            <a:extLst>
              <a:ext uri="{FF2B5EF4-FFF2-40B4-BE49-F238E27FC236}">
                <a16:creationId xmlns:a16="http://schemas.microsoft.com/office/drawing/2014/main" id="{737C29EE-515B-4D15-B0D9-273CE28F3A29}"/>
              </a:ext>
            </a:extLst>
          </p:cNvPr>
          <p:cNvSpPr>
            <a:spLocks noGrp="1"/>
          </p:cNvSpPr>
          <p:nvPr>
            <p:ph sz="half" idx="2"/>
          </p:nvPr>
        </p:nvSpPr>
        <p:spPr/>
        <p:txBody>
          <a:bodyPr>
            <a:normAutofit lnSpcReduction="10000"/>
          </a:bodyPr>
          <a:lstStyle/>
          <a:p>
            <a:r>
              <a:rPr lang="en-US" dirty="0"/>
              <a:t>Low running and maintenance.</a:t>
            </a:r>
          </a:p>
          <a:p>
            <a:r>
              <a:rPr lang="en-US" dirty="0"/>
              <a:t>Clean source (pollution-free)</a:t>
            </a:r>
          </a:p>
          <a:p>
            <a:r>
              <a:rPr lang="en-US" dirty="0"/>
              <a:t>Longer expectancy of turbine life</a:t>
            </a:r>
          </a:p>
          <a:p>
            <a:r>
              <a:rPr lang="en-US" dirty="0"/>
              <a:t>Renewable source of energy</a:t>
            </a:r>
          </a:p>
          <a:p>
            <a:r>
              <a:rPr lang="en-US" dirty="0"/>
              <a:t>Additional benefits like recreation, fishery, irrigation and flood control.</a:t>
            </a:r>
            <a:endParaRPr lang="en-IN" dirty="0"/>
          </a:p>
        </p:txBody>
      </p:sp>
      <p:sp>
        <p:nvSpPr>
          <p:cNvPr id="5" name="Text Placeholder 4">
            <a:extLst>
              <a:ext uri="{FF2B5EF4-FFF2-40B4-BE49-F238E27FC236}">
                <a16:creationId xmlns:a16="http://schemas.microsoft.com/office/drawing/2014/main" id="{E46F6870-5E1D-41DB-8F09-AD0956BA405B}"/>
              </a:ext>
            </a:extLst>
          </p:cNvPr>
          <p:cNvSpPr>
            <a:spLocks noGrp="1"/>
          </p:cNvSpPr>
          <p:nvPr>
            <p:ph type="body" sz="quarter" idx="3"/>
          </p:nvPr>
        </p:nvSpPr>
        <p:spPr/>
        <p:txBody>
          <a:bodyPr/>
          <a:lstStyle/>
          <a:p>
            <a:r>
              <a:rPr lang="en-US" dirty="0"/>
              <a:t>Demerits</a:t>
            </a:r>
            <a:endParaRPr lang="en-IN" dirty="0"/>
          </a:p>
        </p:txBody>
      </p:sp>
      <p:sp>
        <p:nvSpPr>
          <p:cNvPr id="6" name="Content Placeholder 5">
            <a:extLst>
              <a:ext uri="{FF2B5EF4-FFF2-40B4-BE49-F238E27FC236}">
                <a16:creationId xmlns:a16="http://schemas.microsoft.com/office/drawing/2014/main" id="{22E41C0D-3FE0-4ACE-863F-D8DF360F63AC}"/>
              </a:ext>
            </a:extLst>
          </p:cNvPr>
          <p:cNvSpPr>
            <a:spLocks noGrp="1"/>
          </p:cNvSpPr>
          <p:nvPr>
            <p:ph sz="quarter" idx="4"/>
          </p:nvPr>
        </p:nvSpPr>
        <p:spPr/>
        <p:txBody>
          <a:bodyPr>
            <a:normAutofit lnSpcReduction="10000"/>
          </a:bodyPr>
          <a:lstStyle/>
          <a:p>
            <a:r>
              <a:rPr lang="en-US" dirty="0"/>
              <a:t>Long duration for commissioning of the plant.</a:t>
            </a:r>
          </a:p>
          <a:p>
            <a:r>
              <a:rPr lang="en-US" dirty="0"/>
              <a:t> Deforestation</a:t>
            </a:r>
          </a:p>
          <a:p>
            <a:r>
              <a:rPr lang="en-US" dirty="0"/>
              <a:t> Rehabilitation of people and  payment compensation for land acquisition.</a:t>
            </a:r>
          </a:p>
          <a:p>
            <a:r>
              <a:rPr lang="en-US" dirty="0"/>
              <a:t>Power transmission loss</a:t>
            </a:r>
          </a:p>
          <a:p>
            <a:r>
              <a:rPr lang="en-US" dirty="0"/>
              <a:t>Seasonal (depends on availability of water)</a:t>
            </a:r>
          </a:p>
          <a:p>
            <a:endParaRPr lang="en-IN" dirty="0"/>
          </a:p>
        </p:txBody>
      </p:sp>
    </p:spTree>
    <p:extLst>
      <p:ext uri="{BB962C8B-B14F-4D97-AF65-F5344CB8AC3E}">
        <p14:creationId xmlns:p14="http://schemas.microsoft.com/office/powerpoint/2010/main" val="1226697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596</Words>
  <Application>Microsoft Office PowerPoint</Application>
  <PresentationFormat>Widescreen</PresentationFormat>
  <Paragraphs>50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Hydraulic Power Plant</vt:lpstr>
      <vt:lpstr>PowerPoint Presentation</vt:lpstr>
      <vt:lpstr>PowerPoint Presentation</vt:lpstr>
      <vt:lpstr>Elements of Hydel Plant</vt:lpstr>
      <vt:lpstr>Spillway and Surge tank</vt:lpstr>
      <vt:lpstr>Classification of hydraulic turbines.</vt:lpstr>
      <vt:lpstr>Impulse and Reaction Principles</vt:lpstr>
      <vt:lpstr>PowerPoint Presentation</vt:lpstr>
      <vt:lpstr>PowerPoint Presentation</vt:lpstr>
      <vt:lpstr>PowerPoint Presentation</vt:lpstr>
      <vt:lpstr>PowerPoint Presentation</vt:lpstr>
      <vt:lpstr>PowerPoint Presentation</vt:lpstr>
      <vt:lpstr>Relative merits and demerits of Hydel plant.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Shahul Hameed</dc:creator>
  <cp:lastModifiedBy>Shahul Hameed</cp:lastModifiedBy>
  <cp:revision>21</cp:revision>
  <dcterms:created xsi:type="dcterms:W3CDTF">2024-10-11T05:52:03Z</dcterms:created>
  <dcterms:modified xsi:type="dcterms:W3CDTF">2026-10-28T13:45:42Z</dcterms:modified>
</cp:coreProperties>
</file>